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7" r:id="rId3"/>
    <p:sldId id="258" r:id="rId4"/>
    <p:sldId id="259" r:id="rId5"/>
    <p:sldId id="260" r:id="rId6"/>
    <p:sldId id="268" r:id="rId7"/>
    <p:sldId id="269" r:id="rId8"/>
    <p:sldId id="261" r:id="rId9"/>
    <p:sldId id="262" r:id="rId10"/>
    <p:sldId id="267" r:id="rId11"/>
    <p:sldId id="263" r:id="rId12"/>
    <p:sldId id="264" r:id="rId13"/>
    <p:sldId id="265" r:id="rId14"/>
    <p:sldId id="26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notesMaster" Target="notesMasters/notesMaster1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152AAD-B67C-4439-AB90-3C123BF2BF5A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DDD176-CC83-4C3B-A134-5CC6CC01E3C4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lose up of a sign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116" y="494814"/>
            <a:ext cx="9743767" cy="1738824"/>
          </a:xfrm>
          <a:prstGeom prst="rect">
            <a:avLst/>
          </a:prstGeom>
        </p:spPr>
      </p:pic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>
          <a:xfrm>
            <a:off x="6823587" y="4589464"/>
            <a:ext cx="4523862" cy="1162408"/>
          </a:xfrm>
        </p:spPr>
        <p:txBody>
          <a:bodyPr>
            <a:normAutofit fontScale="80000"/>
          </a:bodyPr>
          <a:lstStyle/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NAME</a:t>
            </a: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                      : KAAVYA.S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REG NO</a:t>
            </a: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                           : 327150008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PRESENTATION DATE</a:t>
            </a: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:</a:t>
            </a:r>
            <a:r>
              <a:rPr lang="en-IN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+mn-ea"/>
              </a:rPr>
              <a:t>10-11-2025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31850" y="2862662"/>
            <a:ext cx="10515600" cy="619432"/>
          </a:xfrm>
        </p:spPr>
        <p:txBody>
          <a:bodyPr>
            <a:noAutofit/>
          </a:bodyPr>
          <a:lstStyle/>
          <a:p>
            <a:pPr algn="ctr"/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Exploratory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Data Analysis</a:t>
            </a:r>
            <a:r>
              <a:rPr lang="en-IN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on </a:t>
            </a:r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Pizza Sales </a:t>
            </a:r>
            <a:endParaRPr lang="en-US" alt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Introduction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20000"/>
          </a:bodyPr>
          <a:p>
            <a:pPr>
              <a:lnSpc>
                <a:spcPct val="120000"/>
              </a:lnSpc>
            </a:pPr>
            <a:r>
              <a:rPr lang="en-US" altLang="en-US"/>
              <a:t>The restaurant industry is highly competitive and data-driven decision-making is essential.</a:t>
            </a:r>
            <a:endParaRPr lang="en-US" altLang="en-US"/>
          </a:p>
          <a:p>
            <a:pPr marL="0" indent="0">
              <a:lnSpc>
                <a:spcPct val="120000"/>
              </a:lnSpc>
              <a:buNone/>
            </a:pPr>
            <a:endParaRPr lang="en-US" altLang="en-US"/>
          </a:p>
          <a:p>
            <a:pPr>
              <a:lnSpc>
                <a:spcPct val="120000"/>
              </a:lnSpc>
            </a:pPr>
            <a:r>
              <a:rPr lang="en-US" altLang="en-US"/>
              <a:t>This project analyzes pizza sales data using Exploratory Data Analysis (EDA) techniques.</a:t>
            </a:r>
            <a:endParaRPr lang="en-US" altLang="en-US"/>
          </a:p>
          <a:p>
            <a:pPr marL="0" indent="0">
              <a:lnSpc>
                <a:spcPct val="120000"/>
              </a:lnSpc>
              <a:buNone/>
            </a:pPr>
            <a:endParaRPr lang="en-US" altLang="en-US"/>
          </a:p>
          <a:p>
            <a:pPr>
              <a:lnSpc>
                <a:spcPct val="120000"/>
              </a:lnSpc>
            </a:pPr>
            <a:r>
              <a:rPr lang="en-US" altLang="en-US"/>
              <a:t>The aim is to identify trends, best and worst-selling pizzas, and factors influencing sales.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Problem Statement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Many restaurants rely on assumptions when pricing or designing menus.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The key question: </a:t>
            </a:r>
            <a:endParaRPr lang="en-US" altLang="en-US"/>
          </a:p>
          <a:p>
            <a:pPr marL="0" indent="0">
              <a:buNone/>
            </a:pPr>
            <a:r>
              <a:rPr lang="en-IN" altLang="en-US"/>
              <a:t>         </a:t>
            </a:r>
            <a:r>
              <a:rPr lang="en-US" altLang="en-US"/>
              <a:t>Which pizzas sell the best and worst, and why?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Data-driven insights can help make better marketing and pricing decisions.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To identify best and worst-selling pizzas.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To analyze how size, price, and category affect sales.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To perform ingredient analysis to find top-selling combinations.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To provide recommendations to improve poorly performing pizzas.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Dataset Description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3410" y="1691005"/>
            <a:ext cx="7262495" cy="4707255"/>
          </a:xfrm>
        </p:spPr>
        <p:txBody>
          <a:bodyPr>
            <a:normAutofit fontScale="80000"/>
          </a:bodyPr>
          <a:p>
            <a:pPr>
              <a:lnSpc>
                <a:spcPct val="100000"/>
              </a:lnSpc>
            </a:pPr>
            <a:r>
              <a:rPr lang="en-US" altLang="en-US"/>
              <a:t>Source: Pizza restaurant internal sales data (2015).</a:t>
            </a:r>
            <a:r>
              <a:rPr lang="en-IN" altLang="en-US"/>
              <a:t> </a:t>
            </a:r>
            <a:r>
              <a:rPr lang="en-US" altLang="en-US"/>
              <a:t>Format: Excel file (Data Model - Pizza Sales.xlsx)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IN" altLang="en-US"/>
              <a:t>Dataset contains of </a:t>
            </a:r>
            <a:r>
              <a:rPr lang="en-US" altLang="en-US"/>
              <a:t>48620</a:t>
            </a:r>
            <a:r>
              <a:rPr lang="en-IN" altLang="en-US"/>
              <a:t> rows and 12 columns.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Key Attributes:</a:t>
            </a:r>
            <a:r>
              <a:rPr lang="en-IN" altLang="en-US"/>
              <a:t> </a:t>
            </a:r>
            <a:r>
              <a:rPr lang="en-US" altLang="en-US"/>
              <a:t>Pizza name, category, size, unit price, quantity, total sales, ingredients.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Data Cleaning: Handled missing values, validated totals, created new feature total_sales.</a:t>
            </a:r>
            <a:r>
              <a:rPr lang="en-IN" altLang="en-US"/>
              <a:t> (</a:t>
            </a:r>
            <a:r>
              <a:rPr lang="en-US" altLang="en-US"/>
              <a:t>817860.05</a:t>
            </a:r>
            <a:r>
              <a:rPr lang="en-IN" altLang="en-US"/>
              <a:t>)</a:t>
            </a:r>
            <a:endParaRPr lang="en-IN" altLang="en-US"/>
          </a:p>
        </p:txBody>
      </p:sp>
      <p:pic>
        <p:nvPicPr>
          <p:cNvPr id="4" name="Picture 3" descr="Screenshot 2025-11-09 19181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9670" y="1984375"/>
            <a:ext cx="3959225" cy="2889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Tools and Libraries Used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r>
              <a:rPr lang="en-US" altLang="en-US"/>
              <a:t>Python – Core programming language.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Pandas – Data loading, cleaning, and aggregation.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Matplotlib &amp; Seaborn – Visualization and trend analysis.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Scikit-learn – Label Encoding and Linear Regression.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Jupyter Notebook – Interactive analysis and visualization.</a:t>
            </a:r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Algorithm Used – Linear Regression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/>
          </a:bodyPr>
          <a:p>
            <a:pPr>
              <a:lnSpc>
                <a:spcPct val="110000"/>
              </a:lnSpc>
            </a:pPr>
            <a:r>
              <a:rPr lang="en-US" altLang="en-US"/>
              <a:t>Linear Regression was used to study how price, size, and category influence sales quantity.</a:t>
            </a:r>
            <a:endParaRPr lang="en-US" altLang="en-US"/>
          </a:p>
          <a:p>
            <a:pPr marL="0" indent="0">
              <a:lnSpc>
                <a:spcPct val="110000"/>
              </a:lnSpc>
              <a:buNone/>
            </a:pPr>
            <a:endParaRPr lang="en-US" altLang="en-US"/>
          </a:p>
          <a:p>
            <a:pPr>
              <a:lnSpc>
                <a:spcPct val="110000"/>
              </a:lnSpc>
            </a:pPr>
            <a:r>
              <a:rPr lang="en-US" altLang="en-US"/>
              <a:t>Used not for prediction, but to validate relationships found during EDA.</a:t>
            </a:r>
            <a:endParaRPr lang="en-US" altLang="en-US"/>
          </a:p>
          <a:p>
            <a:pPr>
              <a:lnSpc>
                <a:spcPct val="110000"/>
              </a:lnSpc>
            </a:pPr>
            <a:endParaRPr lang="en-US" altLang="en-US"/>
          </a:p>
          <a:p>
            <a:pPr>
              <a:lnSpc>
                <a:spcPct val="110000"/>
              </a:lnSpc>
            </a:pPr>
            <a:r>
              <a:rPr lang="en-US" altLang="en-US"/>
              <a:t>Helped quantify how much each factor impacts sales.</a:t>
            </a:r>
            <a:endParaRPr lang="en-US" altLang="en-US"/>
          </a:p>
          <a:p>
            <a:pPr>
              <a:lnSpc>
                <a:spcPct val="110000"/>
              </a:lnSpc>
            </a:pPr>
            <a:endParaRPr lang="en-US" altLang="en-US"/>
          </a:p>
          <a:p>
            <a:pPr>
              <a:lnSpc>
                <a:spcPct val="110000"/>
              </a:lnSpc>
            </a:pPr>
            <a:r>
              <a:rPr lang="en-US" altLang="en-US"/>
              <a:t>Findings: Higher price and larger size reduce sales volume.</a:t>
            </a:r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Visualizations</a:t>
            </a:r>
            <a:endParaRPr lang="en-US" altLang="en-US"/>
          </a:p>
        </p:txBody>
      </p:sp>
      <p:pic>
        <p:nvPicPr>
          <p:cNvPr id="4" name="Content Placeholder 3" descr="Screenshot 2025-11-01 163138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31470" y="1691005"/>
            <a:ext cx="5499735" cy="4335780"/>
          </a:xfrm>
          <a:prstGeom prst="rect">
            <a:avLst/>
          </a:prstGeom>
        </p:spPr>
      </p:pic>
      <p:pic>
        <p:nvPicPr>
          <p:cNvPr id="5" name="Picture 4" descr="Screenshot 2025-11-01 16315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940" y="1944370"/>
            <a:ext cx="6332855" cy="408241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>
                <a:sym typeface="+mn-ea"/>
              </a:rPr>
              <a:t>Visualizations</a:t>
            </a:r>
            <a:endParaRPr lang="en-US"/>
          </a:p>
        </p:txBody>
      </p:sp>
      <p:pic>
        <p:nvPicPr>
          <p:cNvPr id="4" name="Content Placeholder 3" descr="Screenshot 2025-11-01 163211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573530" y="1825625"/>
            <a:ext cx="9044305" cy="435165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Insights from Analysis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0000" lnSpcReduction="10000"/>
          </a:bodyPr>
          <a:p>
            <a:pPr>
              <a:lnSpc>
                <a:spcPct val="100000"/>
              </a:lnSpc>
            </a:pPr>
            <a:r>
              <a:rPr lang="en-US" altLang="en-US"/>
              <a:t>Best Seller: The Big Meat Pizza (Small) – moderate price, popular toppings (mozzarella, garlic, tomatoes).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Least Seller: The Greek Pizza (XXL) – higher price and large size reduce sales.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Smaller &amp; medium pizzas perform better than large or premium ones.</a:t>
            </a:r>
            <a:endParaRPr lang="en-US" altLang="en-US"/>
          </a:p>
          <a:p>
            <a:pPr>
              <a:lnSpc>
                <a:spcPct val="100000"/>
              </a:lnSpc>
            </a:pPr>
            <a:endParaRPr lang="en-US" altLang="en-US"/>
          </a:p>
          <a:p>
            <a:pPr>
              <a:lnSpc>
                <a:spcPct val="100000"/>
              </a:lnSpc>
            </a:pPr>
            <a:r>
              <a:rPr lang="en-US" altLang="en-US"/>
              <a:t>Popular ingredients like mozzarella, garlic, tomatoes boost pizza appeal and sales.</a:t>
            </a:r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Recommendations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Offer discounts or combos on large pizzas.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Add popular ingredients to low-selling pizzas.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Maintain moderate pricing for consistent sales.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Promote low-selling items (the Greek Pizza, XXL) through better marketing.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Conclusion 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1230" y="1691005"/>
            <a:ext cx="10290175" cy="4838700"/>
          </a:xfrm>
        </p:spPr>
        <p:txBody>
          <a:bodyPr>
            <a:normAutofit fontScale="70000"/>
          </a:bodyPr>
          <a:p>
            <a:pPr>
              <a:lnSpc>
                <a:spcPct val="110000"/>
              </a:lnSpc>
            </a:pPr>
            <a:r>
              <a:rPr lang="en-US" altLang="en-US"/>
              <a:t>EDA revealed that price and size are key factors influencing pizza sales, with smaller and moderately priced pizzas performing best.</a:t>
            </a:r>
            <a:endParaRPr lang="en-US" altLang="en-US"/>
          </a:p>
          <a:p>
            <a:pPr>
              <a:lnSpc>
                <a:spcPct val="110000"/>
              </a:lnSpc>
            </a:pPr>
            <a:endParaRPr lang="en-US" altLang="en-US"/>
          </a:p>
          <a:p>
            <a:pPr>
              <a:lnSpc>
                <a:spcPct val="110000"/>
              </a:lnSpc>
            </a:pPr>
            <a:r>
              <a:rPr lang="en-US" altLang="en-US"/>
              <a:t>Linear Regression validated these findings and provided quantitative insight into how each feature affects demand.</a:t>
            </a:r>
            <a:endParaRPr lang="en-US" altLang="en-US"/>
          </a:p>
          <a:p>
            <a:pPr>
              <a:lnSpc>
                <a:spcPct val="110000"/>
              </a:lnSpc>
            </a:pPr>
            <a:endParaRPr lang="en-US" altLang="en-US"/>
          </a:p>
          <a:p>
            <a:pPr>
              <a:lnSpc>
                <a:spcPct val="110000"/>
              </a:lnSpc>
            </a:pPr>
            <a:r>
              <a:rPr lang="en-US" altLang="en-US"/>
              <a:t>The analysis offered actionable strategies for improving sales, pricing, and menu design.</a:t>
            </a:r>
            <a:endParaRPr lang="en-US" altLang="en-US"/>
          </a:p>
          <a:p>
            <a:pPr>
              <a:lnSpc>
                <a:spcPct val="110000"/>
              </a:lnSpc>
            </a:pPr>
            <a:endParaRPr lang="en-US" altLang="en-US"/>
          </a:p>
          <a:p>
            <a:pPr>
              <a:lnSpc>
                <a:spcPct val="110000"/>
              </a:lnSpc>
            </a:pPr>
            <a:r>
              <a:rPr lang="en-US" altLang="en-US"/>
              <a:t>Future enhancements include seasonal trend analysis, advanced ML models, and a recommendation system for new pizza combinations.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51860" y="769620"/>
            <a:ext cx="7901940" cy="921385"/>
          </a:xfrm>
        </p:spPr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endParaRPr lang="en-IN" altLang="en-US" sz="6600"/>
          </a:p>
          <a:p>
            <a:pPr marL="0" indent="0" algn="ctr">
              <a:buNone/>
            </a:pPr>
            <a:r>
              <a:rPr lang="en-IN" altLang="en-US" sz="6600">
                <a:latin typeface="Times New Roman" panose="02020603050405020304" pitchFamily="18" charset="0"/>
                <a:cs typeface="Times New Roman" panose="02020603050405020304" pitchFamily="18" charset="0"/>
              </a:rPr>
              <a:t>THANK YOU...</a:t>
            </a:r>
            <a:endParaRPr lang="en-IN" altLang="en-US" sz="6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2946</Words>
  <Application>WPS Presentation</Application>
  <PresentationFormat>Widescreen</PresentationFormat>
  <Paragraphs>101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5" baseType="lpstr">
      <vt:lpstr>Arial</vt:lpstr>
      <vt:lpstr>SimSun</vt:lpstr>
      <vt:lpstr>Wingdings</vt:lpstr>
      <vt:lpstr>Times New Roman</vt:lpstr>
      <vt:lpstr>Microsoft YaHei</vt:lpstr>
      <vt:lpstr>Arial Unicode MS</vt:lpstr>
      <vt:lpstr>Aptos Display</vt:lpstr>
      <vt:lpstr>Segoe UI Variable Display</vt:lpstr>
      <vt:lpstr>Aptos</vt:lpstr>
      <vt:lpstr>Segoe UI</vt:lpstr>
      <vt:lpstr>Calibri</vt:lpstr>
      <vt:lpstr>Office Theme</vt:lpstr>
      <vt:lpstr>Pizza Sales Data Analysis</vt:lpstr>
      <vt:lpstr>Introduction</vt:lpstr>
      <vt:lpstr>Problem Statement</vt:lpstr>
      <vt:lpstr>Objectives</vt:lpstr>
      <vt:lpstr>Dataset Description</vt:lpstr>
      <vt:lpstr>Tools and Libraries Used</vt:lpstr>
      <vt:lpstr>Algorithm Used – Linear Regression</vt:lpstr>
      <vt:lpstr>Visualizations</vt:lpstr>
      <vt:lpstr>Visualizations</vt:lpstr>
      <vt:lpstr>Insights from Analysis</vt:lpstr>
      <vt:lpstr>Recommendations</vt:lpstr>
      <vt:lpstr>Conclusion 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Manashika M</dc:creator>
  <cp:lastModifiedBy>sample</cp:lastModifiedBy>
  <cp:revision>9</cp:revision>
  <dcterms:created xsi:type="dcterms:W3CDTF">2025-11-07T16:59:00Z</dcterms:created>
  <dcterms:modified xsi:type="dcterms:W3CDTF">2025-11-10T06:44:30Z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D2AE027D77D348098864F95FDC3511E9_13</vt:lpwstr>
  </property>
  <property fmtid="{D5CDD505-2E9C-101B-9397-08002B2CF9AE}" pid="3" name="KSOProductBuildVer">
    <vt:lpwstr>1033-12.2.0.23155</vt:lpwstr>
  </property>
</Properties>
</file>